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맑은 고딕"/>
              </a:rPr>
              <a:t>경쟁기술 인텔리전스 V6 — 자사 기술 수준 진단 및 보완 우선순위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94944"/>
            <a:ext cx="11423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9838C"/>
                </a:solidFill>
                <a:latin typeface="맑은 고딕"/>
              </a:rPr>
              <a:t>특허를 핵심 기준으로 판정, 설비투자 공시·기술발표를 보조 근거로 교차 검증함   |   AI 판독: CPC 국제분류 규칙   |   2026-09-13 실측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969264"/>
            <a:ext cx="11423599" cy="1905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① 조사 범위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맑은 고딕"/>
              </a:rPr>
              <a:t>1억 7,041만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전 세계 특허 문헌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607503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85227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3243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② 패밀리 병합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3243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5만 2,482 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3243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특허 16만 5,650건 국가별 중복 제거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908682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6406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4422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③ 기술 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4422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4만 474 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4422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CPC 국제분류 판독 적용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7209861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87585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601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④ 판정 기술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601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71 / 73 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601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근거 확보 기술 수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9511040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88764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6780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⑤ 신뢰도 '상'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6780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B9821A"/>
                </a:solidFill>
                <a:latin typeface="맑은 고딕"/>
              </a:rPr>
              <a:t>17 개 기술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6780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이종 2축 교차 검증 성립분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2249424"/>
            <a:ext cx="5711799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368296"/>
            <a:ext cx="54374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경쟁사별 조사 규모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2775204"/>
            <a:ext cx="68580" cy="68580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6974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자사 (LGES)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27066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48,138 · 공시 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26974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4만 8,217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50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26974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307238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46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CATL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30038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34,649 · 설비투자 공시 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29946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3만 4,676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30586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6048" y="3058668"/>
            <a:ext cx="467441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29946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71%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336956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2918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삼성SDI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55648" y="33009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32,450 · 공시 82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32918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3만 2,532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6048" y="33558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6048" y="3355848"/>
            <a:ext cx="441106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50992" y="32918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67%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366674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358902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파나소닉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5648" y="359816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25,907 · EDINET 미연결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358902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2만 5,908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56048" y="365302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56048" y="3653028"/>
            <a:ext cx="348935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2" y="358902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53%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" y="396392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388620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BYD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5648" y="389534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10,614 · 설비투자 원천 부재 확인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3360" y="388620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1만 621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56048" y="395020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56048" y="3950208"/>
            <a:ext cx="144840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50992" y="388620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22%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0352" y="426110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41833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SK온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55648" y="41925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9,283 · 공시 62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23360" y="41833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9,345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56048" y="42473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956048" y="4247388"/>
            <a:ext cx="125089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50992" y="41833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19%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0352" y="455828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" y="44805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테슬라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55648" y="44897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특허 1,276 · SEC 본문검색 연결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23360" y="44805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1,276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956048" y="45445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56048" y="4544568"/>
            <a:ext cx="13167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50992" y="44805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2%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0352" y="4855464"/>
            <a:ext cx="68580" cy="6858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47777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합계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55648" y="47868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경쟁사 6사 + 자사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23360" y="47777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16만 2,575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50992" y="47777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100%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42151" y="2249424"/>
            <a:ext cx="5565496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88455" y="236829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의사결정 지원 항목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88455" y="263347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공정기술 73개 전량을 열위 17 · 동등 15 · 우위 20 · 확인 필요 16 로 구분 제시함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88455" y="287121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시급도 = 기술 격차 × 경쟁사 확산도 × 근거 확실성 — 27점 이상 검토 착수선 적용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88455" y="310896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기술 격차를 특허·공시·발표 3축 대리 지표로 추정, 기준·보수 듀얼 트랙 제시함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88455" y="334670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전 수치에 근거 목록 및 원문 링크 연결 — 원천까지 역추적 가능함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42151" y="3712464"/>
            <a:ext cx="5565496" cy="1389888"/>
          </a:xfrm>
          <a:prstGeom prst="rect">
            <a:avLst/>
          </a:prstGeom>
          <a:solidFill>
            <a:srgbClr val="FFFFFF"/>
          </a:solidFill>
          <a:ln w="15875">
            <a:solidFill>
              <a:srgbClr val="E50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88455" y="383133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5007D"/>
                </a:solidFill>
                <a:latin typeface="맑은 고딕"/>
              </a:rPr>
              <a:t>한계 및 후속 과제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88455" y="409651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경쟁사 수율·제조원가 비공개 — 본 모델 산출 대상에서 명시적 제외함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88455" y="433425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기존 '미보유' 17건에서 자사 특허 검색됨 — 생산기술혁신센터 재검증 필요함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88455" y="457200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설비투자 공시는 공장 단위 정보로 전사 근거로만 반영함 — 기술 단위 배정 불가함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88455" y="480974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BYD 설비투자 원천 부재 확인 · 파나소닉은 EDINET 키 발급 필요함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8404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84048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완료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3축 격차 추정 모델 적용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패밀리 병합 16만 5,650→5만 2,482건.
보정 계수·듀얼 트랙 적용 완료.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4864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추가 비용 없음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6509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65093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42968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완료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42968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데이터 확충 — 축 2 가동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2968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관측 16년치·피인용 확보.
신뢰도 '상' 17건 도출.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968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BQ 60.6GB(무료분)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14613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146138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31073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1단계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1073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자사 보유 현황 확정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1073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재검증 17건 · 신규 편입 16건.
생산기술혁신센터 확인 필요함.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1073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3일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02718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027183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19177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2단계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19177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EDINET·EPO 연결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19177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파나소닉 설비투자 및 청구항 원문.
키 발급 후 즉시 적용 가능함.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9177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2일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84048" y="6547104"/>
            <a:ext cx="114235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전 수치는 2026-09-13 실측값이며, 추정치는 '약'으로 표기함.   |   LG에너지솔루션 기술전략 · 내부 검토용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4181C"/>
                </a:solidFill>
                <a:latin typeface="맑은 고딕"/>
              </a:rPr>
              <a:t>기술 격차 추정 모델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9838C"/>
                </a:solidFill>
                <a:latin typeface="맑은 고딕"/>
              </a:rPr>
              <a:t>특허·설비투자 공시·대외 기술발표 3축 대리 지표 결합 방식   |   경쟁사 수율·제조원가는 비공개로 산출 대상에서 제외함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11057839" cy="566928"/>
          </a:xfrm>
          <a:prstGeom prst="rect">
            <a:avLst/>
          </a:prstGeom>
          <a:solidFill>
            <a:srgbClr val="EFF1F2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80160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81C"/>
                </a:solidFill>
                <a:latin typeface="맑은 고딕"/>
              </a:rPr>
              <a:t>기술 격차 = 실행 소요기간 × 3축 관측 보정 계수 × 불확실성 여유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83664"/>
            <a:ext cx="360060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83664"/>
            <a:ext cx="3600602" cy="3810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9838C"/>
                </a:solidFill>
                <a:latin typeface="맑은 고딕"/>
              </a:rPr>
              <a:t>축 1 · 특허   </a:t>
            </a:r>
            <a:r>
              <a:rPr sz="900" b="1">
                <a:solidFill>
                  <a:srgbClr val="2C6B52"/>
                </a:solidFill>
                <a:latin typeface="맑은 고딕"/>
              </a:rPr>
              <a:t>가중 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31136"/>
            <a:ext cx="32714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맑은 고딕"/>
              </a:rPr>
              <a:t>R&amp;D 선행 격차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23744"/>
            <a:ext cx="327141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패밀리 병합 후 선점 시점 격차와
품질 가중 출원량을 개월로 환산함.
국가 수·등록·피인용 반영함.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36976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가동 중 · 68개 기술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5546" y="1883664"/>
            <a:ext cx="360060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5546" y="1883664"/>
            <a:ext cx="3600602" cy="3810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0138" y="2029968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9838C"/>
                </a:solidFill>
                <a:latin typeface="맑은 고딕"/>
              </a:rPr>
              <a:t>축 2 · 공시   </a:t>
            </a:r>
            <a:r>
              <a:rPr sz="900" b="1">
                <a:solidFill>
                  <a:srgbClr val="2C6B52"/>
                </a:solidFill>
                <a:latin typeface="맑은 고딕"/>
              </a:rPr>
              <a:t>가중 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0138" y="2231136"/>
            <a:ext cx="32714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맑은 고딕"/>
              </a:rPr>
              <a:t>양산 진입 격차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0138" y="2523744"/>
            <a:ext cx="327141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투자 규모·준공 시점으로 SOP
진입 시점을 추정함.
일정 지연 계수 1.35 적용함.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0138" y="3236976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전사 근거로 가동 · 32개 기술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4164" y="1883664"/>
            <a:ext cx="360060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4164" y="1883664"/>
            <a:ext cx="3600602" cy="3810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8756" y="2029968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9838C"/>
                </a:solidFill>
                <a:latin typeface="맑은 고딕"/>
              </a:rPr>
              <a:t>축 3 · 발표   </a:t>
            </a:r>
            <a:r>
              <a:rPr sz="900" b="1">
                <a:solidFill>
                  <a:srgbClr val="B9821A"/>
                </a:solidFill>
                <a:latin typeface="맑은 고딕"/>
              </a:rPr>
              <a:t>가중 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8756" y="2231136"/>
            <a:ext cx="327141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81C"/>
                </a:solidFill>
                <a:latin typeface="맑은 고딕"/>
              </a:rPr>
              <a:t>스펙 수준 격차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8756" y="2523744"/>
            <a:ext cx="327141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발표 목표 스펙과 자사 현행
스펙의 성능 갭을 환산함.
마케팅 보정 0.75 적용함.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8756" y="3236976"/>
            <a:ext cx="327141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표본 확대 필요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694176"/>
            <a:ext cx="5464911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822192"/>
            <a:ext cx="50991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기준 시나리오 (Base)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78224"/>
            <a:ext cx="50991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공시·발표에 보정 계수 적용분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297680"/>
            <a:ext cx="50991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마케팅성 과장 및 일정 지연을 차감한 값임.
보완 투자 의사결정의 기준선으로 적용함.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9855" y="3694176"/>
            <a:ext cx="5464911" cy="1078992"/>
          </a:xfrm>
          <a:prstGeom prst="rect">
            <a:avLst/>
          </a:prstGeom>
          <a:solidFill>
            <a:srgbClr val="FFFFFF"/>
          </a:solidFill>
          <a:ln w="15875">
            <a:solidFill>
              <a:srgbClr val="E50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2735" y="3822192"/>
            <a:ext cx="50991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5007D"/>
                </a:solidFill>
                <a:latin typeface="맑은 고딕"/>
              </a:rPr>
              <a:t>보수 시나리오 (Conservative)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2735" y="4078224"/>
            <a:ext cx="50991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공시·발표 액면가 수용분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2735" y="4297680"/>
            <a:ext cx="509915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경쟁사 발표가 전량 실행될 경우의 값임.
기준값과의 차이는 발표 의존도를 의미함.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956048"/>
            <a:ext cx="11057839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084064"/>
            <a:ext cx="10655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예상 질의 대응 — "수율·양산 데이터 없이 신뢰 가능한가"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5358384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1. 본 수치는 경쟁사 절대 진도가 아닌, 검증 가능한 공개 근거상의 상대 격차임. 수율·원가는 산출 대상에서 명시적으로 제외하였음.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5660136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2. 발표·공시는 액면가 미반영함. 마케팅 보정 0.75 및 일정 지연 1.35 적용 기준값과 액면가 수용 보수값을 병행 제시하며, 양자 차이를 발표 의존도로 표기함.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" y="5961888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3. 전 수치는 원문까지 역추적 가능하며, 근거 부족 건은 '판정 불가'로 분리 표기함. 신뢰도 '상' 판정은 이종 2축 교차 검증이 성립한 17건에 한정하며, 확인 범위를 초과하여 주장하지 않음.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47104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보정 계수는 업계 통상치 적용분이며, 사내 실적 데이터 확보 시 해당 값으로 대체 적용 예정임.   |   LG에너지솔루션 기술전략 · 내부 검토용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