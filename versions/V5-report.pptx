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74320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181C"/>
                </a:solidFill>
                <a:latin typeface="맑은 고딕"/>
              </a:rPr>
              <a:t>경쟁기술 인텔리전스 V5 — 자사 기술 수준 진단 및 보완 우선순위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94944"/>
            <a:ext cx="11423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9838C"/>
                </a:solidFill>
                <a:latin typeface="맑은 고딕"/>
              </a:rPr>
              <a:t>특허를 핵심 기준으로 판정, 설비투자 공시·기술발표를 보조 근거로 교차 검증함   |   AI 판독: 규칙 + LLM 재판독   |   2026-09-13 실측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969264"/>
            <a:ext cx="11423599" cy="1905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① 조사 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181C"/>
                </a:solidFill>
                <a:latin typeface="맑은 고딕"/>
              </a:rPr>
              <a:t>1억 7,041만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전 세계 특허 문헌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2607503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85227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3243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② 수집 완료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3243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4만 2,289 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3243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특허 4만 1,665 · 공시 590 · 논문 34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4908682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6406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4422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③ 기술 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4422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1만 1,060 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4422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CPC 국제분류 판독 적용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7209861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87585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15601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④ 판정 기술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5601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54 / 57 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5601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근거 확보 기술 수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9511040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88764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6780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⑤ 완성도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6780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B9821A"/>
                </a:solidFill>
                <a:latin typeface="맑은 고딕"/>
              </a:rPr>
              <a:t>약 80 %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6780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창구 6곳 연결 완료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2249424"/>
            <a:ext cx="5711799" cy="2852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368296"/>
            <a:ext cx="54374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경쟁사별 조사 규모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2775204"/>
            <a:ext cx="68580" cy="68580"/>
          </a:xfrm>
          <a:prstGeom prst="rect">
            <a:avLst/>
          </a:prstGeom>
          <a:solidFill>
            <a:srgbClr val="E50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269748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자사 (LGES)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55648" y="270662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1만 5,990 · 공시 79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26974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1만 6,069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56048" y="276148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56048" y="2761488"/>
            <a:ext cx="658368" cy="77724"/>
          </a:xfrm>
          <a:prstGeom prst="rect">
            <a:avLst/>
          </a:prstGeom>
          <a:solidFill>
            <a:srgbClr val="E50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50992" y="269748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100%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" y="307238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29946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CATL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300380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9,826 · 설비투자 공시 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299466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9,853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56048" y="305866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56048" y="3058668"/>
            <a:ext cx="401604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50992" y="299466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61%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" y="336956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329184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삼성SDI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55648" y="330098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6,717 · 공시 82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3360" y="329184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6,799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56048" y="335584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6048" y="3355848"/>
            <a:ext cx="276514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50992" y="329184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42%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352" y="366674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358902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파나소닉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55648" y="359816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2,991 · 공시 1 — EDINET 미연결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23360" y="358902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2,992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56048" y="365302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56048" y="3653028"/>
            <a:ext cx="125089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50992" y="358902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19%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" y="396392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388620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SK온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55648" y="389534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2,261 · 공시 62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23360" y="388620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2,323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56048" y="395020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956048" y="3950208"/>
            <a:ext cx="92171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50992" y="388620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14%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0352" y="426110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418338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BYD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55648" y="419252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2,215 · 설비투자 원천 부재 확인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23360" y="41833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2,222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56048" y="424738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956048" y="4247388"/>
            <a:ext cx="92171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50992" y="418338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14%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30352" y="455828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8368" y="44805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테슬라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55648" y="448970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169 · SEC 본문검색 연결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23360" y="448056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169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56048" y="454456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956048" y="4544568"/>
            <a:ext cx="13167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50992" y="448056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2%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0352" y="4855464"/>
            <a:ext cx="68580" cy="6858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477774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합계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55648" y="478688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경쟁사 6사 + 자사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23360" y="477774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4만 2,289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956048" y="484174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956048" y="4841748"/>
            <a:ext cx="658368" cy="77724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650992" y="477774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100%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42151" y="2249424"/>
            <a:ext cx="5565496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88455" y="2368296"/>
            <a:ext cx="5272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의사결정 지원 항목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88455" y="2633472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공정기술 57개 전량을 열위 16 · 동등 14 · 우위 20 으로 구분 제시함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88455" y="2871216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시급도 = 기술 격차 × 경쟁사 확산도 × 근거 확실성 — 보완 우선순위 도출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88455" y="3108960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기술 격차를 단계별 수행 과업 및 소요기간으로 분해 제시함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88455" y="3346704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전 수치에 근거 목록 및 원문 링크 연결 — 원천까지 역추적 가능함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242151" y="3712464"/>
            <a:ext cx="5565496" cy="1389888"/>
          </a:xfrm>
          <a:prstGeom prst="rect">
            <a:avLst/>
          </a:prstGeom>
          <a:solidFill>
            <a:srgbClr val="FFFFFF"/>
          </a:solidFill>
          <a:ln w="15875">
            <a:solidFill>
              <a:srgbClr val="E500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88455" y="3831336"/>
            <a:ext cx="5272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E5007D"/>
                </a:solidFill>
                <a:latin typeface="맑은 고딕"/>
              </a:rPr>
              <a:t>한계 및 후속 과제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88455" y="4096512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기존 '미보유' 18건 전량에서 자사 특허 검색됨 — 공정기술팀 재검증 필요함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88455" y="4334256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특허가족 병합 미적용 — 동일 발명의 국가별 중복 계상 발생함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88455" y="4572000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BYD 설비투자 원천 부재 확인 · 파나소닉은 EDINET 키 발급 필요함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88455" y="4809744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경쟁사 근거는 특허 중심 — 라인 가동 여부 미확인 상태임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84048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84048" y="5230368"/>
            <a:ext cx="38100" cy="1207008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48640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완료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창구 6곳 연결 · 판정 기준 재정립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8640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SEC·HKEX·학회 신규 연결 완료.
시급도 곱셈 방식 전환 적용.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48640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C6B52"/>
                </a:solidFill>
                <a:latin typeface="맑은 고딕"/>
              </a:rPr>
              <a:t>추가 비용 없음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65093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265093" y="5230368"/>
            <a:ext cx="38100" cy="1207008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429685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1단계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429685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자사 보유 현황 확정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29685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'미보유' 18건 재검증 추진.
공정기술팀 확인 필요함.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29685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약 3일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46138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146138" y="5230368"/>
            <a:ext cx="38100" cy="1207008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310730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2단계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310730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특허가족·법인명 병합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10730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중복 계상 제거를 통한
집계 신뢰도 확보.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10730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약 2일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027183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027183" y="5230368"/>
            <a:ext cx="38100" cy="1207008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191775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3단계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91775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EDINET·EPO 연결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191775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파나소닉 설비투자 및 청구항 원문.
키 발급 후 즉시 적용 가능함.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191775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약 2일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84048" y="6547104"/>
            <a:ext cx="114235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전 수치는 2026-09-13 실측값이며, 추정치는 '약'으로 표기함.   |   LG에너지솔루션 기술전략 · 내부 검토용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