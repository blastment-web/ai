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74320"/>
            <a:ext cx="114235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181C"/>
                </a:solidFill>
                <a:latin typeface="맑은 고딕"/>
              </a:rPr>
              <a:t>AI 기반 경쟁기술 인텔리전스 — 정보는 어디서 오고, 지금 어디까지 왔는가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94944"/>
            <a:ext cx="11423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9838C"/>
                </a:solidFill>
                <a:latin typeface="맑은 고딕"/>
              </a:rPr>
              <a:t>경쟁사의 특허·설비투자를 모아, 우리에게 없는 기술을 근거와 함께 드러내는 체계   |   모든 숫자는 2026-09-12 실제 호출로 측정   |   근거 1건마다 원문 링크로 되짚을 수 있음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69264"/>
            <a:ext cx="11423599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① 원천에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1억 7,041만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전 세계 특허 문헌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607503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5227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3243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② 경쟁사 6사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3243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181C"/>
                </a:solidFill>
                <a:latin typeface="맑은 고딕"/>
              </a:rPr>
              <a:t>54만 건 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3243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삼성SDI·CATL·BYD·파나소닉 등</a:t>
            </a:r>
          </a:p>
        </p:txBody>
      </p:sp>
      <p:sp>
        <p:nvSpPr>
          <p:cNvPr id="15" name="Isosceles Triangle 14"/>
          <p:cNvSpPr/>
          <p:nvPr/>
        </p:nvSpPr>
        <p:spPr>
          <a:xfrm rot="5400000">
            <a:off x="4908682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406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4422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③ 실제로 퍼온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4422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6B52"/>
                </a:solidFill>
                <a:latin typeface="맑은 고딕"/>
              </a:rPr>
              <a:t>41,685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4422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경쟁사 특허 4만 + 국내 1,665 + 공시 20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9861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87585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601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④ 기술에 확실히 붙은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601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228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5601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나머지는 '관련 가능성'으로만 분류</a:t>
            </a:r>
          </a:p>
        </p:txBody>
      </p:sp>
      <p:sp>
        <p:nvSpPr>
          <p:cNvPr id="25" name="Isosceles Triangle 24"/>
          <p:cNvSpPr/>
          <p:nvPr/>
        </p:nvSpPr>
        <p:spPr>
          <a:xfrm rot="5400000">
            <a:off x="9511040" y="1527048"/>
            <a:ext cx="73152" cy="109728"/>
          </a:xfrm>
          <a:prstGeom prst="triangle">
            <a:avLst/>
          </a:prstGeom>
          <a:solidFill>
            <a:srgbClr val="798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88764" y="1115568"/>
            <a:ext cx="2218883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6780" y="1216152"/>
            <a:ext cx="1962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⑤ 완성도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6780" y="1408176"/>
            <a:ext cx="196285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B9821A"/>
                </a:solidFill>
                <a:latin typeface="맑은 고딕"/>
              </a:rPr>
              <a:t>약 55 %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6780" y="1755648"/>
            <a:ext cx="196285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수집은 됐고, 기술 분류가 남음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249424"/>
            <a:ext cx="5711799" cy="2852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368296"/>
            <a:ext cx="5437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정보를 어디서 가져오는가 — 8개 창구 중 4개 연결, 4만 건 확보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277520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26974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구글 특허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27066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경쟁사 특허를 직접 퍼옴 (전 세계)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6974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40,000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27614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56048" y="2761488"/>
            <a:ext cx="460857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26974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3072384"/>
            <a:ext cx="68580" cy="68580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46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KIPRIS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30038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한국 특허청 — 57개 기술명으로 검색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29946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1,665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56048" y="30586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56048" y="3058668"/>
            <a:ext cx="427939" cy="77724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9946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65%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336956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2918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cninfo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55648" y="33009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중국 공시 — CATL 설비투자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0" y="32918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17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56048" y="33558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6048" y="3355848"/>
            <a:ext cx="230428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32918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35%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3666744"/>
            <a:ext cx="68580" cy="68580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35890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DART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55648" y="359816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한국 공시 — 경쟁사는 0건 (원천에 없음)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358902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4181C"/>
                </a:solidFill>
                <a:latin typeface="맑은 고딕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56048" y="365302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56048" y="3653028"/>
            <a:ext cx="164592" cy="77724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358902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25%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0352" y="3963924"/>
            <a:ext cx="68580" cy="68580"/>
          </a:xfrm>
          <a:prstGeom prst="rect">
            <a:avLst/>
          </a:prstGeom>
          <a:solidFill>
            <a:srgbClr val="B6B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38862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EPO / USPTO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55648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유럽·미국 특허청 (청구항 원문)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23360" y="388620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56048" y="395020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50992" y="388620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0352" y="4261104"/>
            <a:ext cx="68580" cy="68580"/>
          </a:xfrm>
          <a:prstGeom prst="rect">
            <a:avLst/>
          </a:prstGeom>
          <a:solidFill>
            <a:srgbClr val="B6B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" y="418338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SEC / EDINET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55648" y="419252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미국·일본 공시 — 테슬라·파나소닉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23360" y="41833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56048" y="424738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50992" y="418338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" y="4558284"/>
            <a:ext cx="68580" cy="68580"/>
          </a:xfrm>
          <a:prstGeom prst="rect">
            <a:avLst/>
          </a:prstGeom>
          <a:solidFill>
            <a:srgbClr val="B6B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4805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HKEX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55648" y="448970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홍콩 공시 — 중국 경쟁사가 옮겨간 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3360" y="448056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454456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50992" y="448056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0352" y="4855464"/>
            <a:ext cx="68580" cy="68580"/>
          </a:xfrm>
          <a:prstGeom prst="rect">
            <a:avLst/>
          </a:prstGeom>
          <a:solidFill>
            <a:srgbClr val="B6B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" y="47777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81C"/>
                </a:solidFill>
                <a:latin typeface="맑은 고딕"/>
              </a:rPr>
              <a:t>컨퍼런스 발표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55648" y="478688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CIBF·AABC 등 기술세션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23360" y="477774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79838C"/>
                </a:solidFill>
                <a:latin typeface="맑은 고딕"/>
              </a:rPr>
              <a:t>미연결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956048" y="4841748"/>
            <a:ext cx="658368" cy="77724"/>
          </a:xfrm>
          <a:prstGeom prst="rect">
            <a:avLst/>
          </a:prstGeom>
          <a:solidFill>
            <a:srgbClr val="ED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50992" y="4777740"/>
            <a:ext cx="301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414A52"/>
                </a:solidFill>
                <a:latin typeface="맑은 고딕"/>
              </a:rPr>
              <a:t>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42151" y="2249424"/>
            <a:ext cx="5565496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88455" y="236829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4181C"/>
                </a:solidFill>
                <a:latin typeface="맑은 고딕"/>
              </a:rPr>
              <a:t>임원에게 무엇을 드리는가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88455" y="263347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“경쟁사는 하는데 우리는 못 하는 기술”을 이름으로 바로 보여준다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88455" y="287121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숫자를 누르면 근거가 된 특허 목록과 원문 링크가 바로 뜬다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88455" y="310896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TRL·시간격차·시급도 모두 산정 근거를 화면에서 확인할 수 있다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88455" y="334670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확실한 근거와 '관련 가능성'을 분리한다 — 숫자를 부풀리지 않는다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42151" y="3712464"/>
            <a:ext cx="5565496" cy="1389888"/>
          </a:xfrm>
          <a:prstGeom prst="rect">
            <a:avLst/>
          </a:prstGeom>
          <a:solidFill>
            <a:srgbClr val="FFFFFF"/>
          </a:solidFill>
          <a:ln w="15875">
            <a:solidFill>
              <a:srgbClr val="E500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88455" y="3831336"/>
            <a:ext cx="5272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5007D"/>
                </a:solidFill>
                <a:latin typeface="맑은 고딕"/>
              </a:rPr>
              <a:t>지금의 한계 — 솔직하게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88455" y="4096512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특허 4만 건 중 특정 기술에 확실히 붙은 것은 228건뿐이다 (용어 매칭의 한계)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88455" y="4334256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기존에 '미보유'로 적혀 있던 16개 기술 모두에서 자사 특허가 검색되었다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88455" y="4572000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같은 발명이 나라별로 여러 건처럼 세어진다 — 특허가족 병합이 없다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88455" y="4809744"/>
            <a:ext cx="5272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414A52"/>
                </a:solidFill>
                <a:latin typeface="맑은 고딕"/>
              </a:rPr>
              <a:t>· 중국·한국 경쟁사의 설비투자 공시는 원천 자체가 비어 있다 (HKEX 로 이동)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404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84048" y="5230368"/>
            <a:ext cx="38100" cy="1207008"/>
          </a:xfrm>
          <a:prstGeom prst="rect">
            <a:avLst/>
          </a:prstGeom>
          <a:solidFill>
            <a:srgbClr val="2C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완료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특허 4만 건 퍼오기 · 화면 연결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경쟁사 특허를 통째로 확보했고
화면이 실데이터를 그린다.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C6B52"/>
                </a:solidFill>
                <a:latin typeface="맑은 고딕"/>
              </a:rPr>
              <a:t>실제 비용 2,000원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6509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26509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2968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1단계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2968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특허를 기술로 분류 (AI 판독)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2968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단어가 겹치는지가 아니라 내용을 읽어
어느 공정기술인지 판별한다.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2968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5일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46138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146138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0730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2단계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10730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자사 보유 현황 확정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10730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'미보유' 16건이 실제로 미보유인지
공정기술팀 확인이 필요하다.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10730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3일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27183" y="5230368"/>
            <a:ext cx="2780461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6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027183" y="5230368"/>
            <a:ext cx="38100" cy="1207008"/>
          </a:xfrm>
          <a:prstGeom prst="rect">
            <a:avLst/>
          </a:prstGeom>
          <a:solidFill>
            <a:srgbClr val="B98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91775" y="5330952"/>
            <a:ext cx="250614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9838C"/>
                </a:solidFill>
                <a:latin typeface="맑은 고딕"/>
              </a:rPr>
              <a:t>다음 3단계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91775" y="5504688"/>
            <a:ext cx="250614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81C"/>
                </a:solidFill>
                <a:latin typeface="맑은 고딕"/>
              </a:rPr>
              <a:t>회사명·특허가족 병합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91775" y="5779008"/>
            <a:ext cx="250614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14A52"/>
                </a:solidFill>
                <a:latin typeface="맑은 고딕"/>
              </a:rPr>
              <a:t>같은 발명이 여러 건으로 세어지는 것을
막아야 숫자를 믿을 수 있다.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91775" y="6199632"/>
            <a:ext cx="250614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9821A"/>
                </a:solidFill>
                <a:latin typeface="맑은 고딕"/>
              </a:rPr>
              <a:t>약 2일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4048" y="6547104"/>
            <a:ext cx="1142359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79838C"/>
                </a:solidFill>
                <a:latin typeface="맑은 고딕"/>
              </a:rPr>
              <a:t>모든 수치는 2026-09-12 실제 호출로 측정한 값입니다. 추정치는 '약'으로 표기했습니다.   |   LG에너지솔루션 기술전략 ·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