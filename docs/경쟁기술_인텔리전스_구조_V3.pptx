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181C"/>
                </a:solidFill>
                <a:latin typeface="맑은 고딕"/>
              </a:rPr>
              <a:t>AI 기반 경쟁기술 인텔리전스 — 정보는 어디서 오고, 지금 어디까지 왔는가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94944"/>
            <a:ext cx="11423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9838C"/>
                </a:solidFill>
                <a:latin typeface="맑은 고딕"/>
              </a:rPr>
              <a:t>경쟁사의 특허·설비투자·발표를 매일 모아, 우리에게 없는 기술을 근거와 함께 드러내는 체계   |   2026-09-12 실측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969264"/>
            <a:ext cx="11423599" cy="1905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① 원천에 있는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181C"/>
                </a:solidFill>
                <a:latin typeface="맑은 고딕"/>
              </a:rPr>
              <a:t>1억 7,041만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전 세계 특허 문헌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2607503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85227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3243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② 경쟁사 6사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3243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181C"/>
                </a:solidFill>
                <a:latin typeface="맑은 고딕"/>
              </a:rPr>
              <a:t>54만 건 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3243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삼성SDI·CATL·BYD·파나소닉 등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4908682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6406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4422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③ 지금 끌어온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4422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E5007D"/>
                </a:solidFill>
                <a:latin typeface="맑은 고딕"/>
              </a:rPr>
              <a:t>127 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4422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연결은 됐으나 아직 안 쌓음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7209861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87585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15601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④ 화면에 뜬 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601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E5007D"/>
                </a:solidFill>
                <a:latin typeface="맑은 고딕"/>
              </a:rPr>
              <a:t>61 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601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아직 샘플 데이터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9511040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88764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6780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⑤ 완성도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6780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E5007D"/>
                </a:solidFill>
                <a:latin typeface="맑은 고딕"/>
              </a:rPr>
              <a:t>약 40 %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6780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뼈대 완성, 적재·연결 남음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2249424"/>
            <a:ext cx="5711799" cy="2852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368296"/>
            <a:ext cx="54374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정보를 어디서 가져오는가 — 8개 창구 중 4개 연결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277520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269748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구글 특허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55648" y="270662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전 세계 특허 — 미국·중국·일본·한국·유럽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26974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1억 7,041만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6048" y="276148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56048" y="2761488"/>
            <a:ext cx="230428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50992" y="269748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35%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307238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29946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KIPRIS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30038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한국 특허청 — 국내 특허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29946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8만 8,306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56048" y="305866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56048" y="3058668"/>
            <a:ext cx="263347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50992" y="299466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40%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" y="336956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32918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cninfo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55648" y="330098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중국 공시 — CATL·BYD 설비투자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0" y="329184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56048" y="335584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6048" y="3355848"/>
            <a:ext cx="197510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50992" y="329184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30%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" y="366674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358902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DART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55648" y="359816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한국 공시 — 삼성SDI·SK온 설비투자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3360" y="358902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56048" y="365302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56048" y="3653028"/>
            <a:ext cx="164592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50992" y="358902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25%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" y="3963924"/>
            <a:ext cx="68580" cy="68580"/>
          </a:xfrm>
          <a:prstGeom prst="rect">
            <a:avLst/>
          </a:prstGeom>
          <a:solidFill>
            <a:srgbClr val="E50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388620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EPO / USPTO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55648" y="389534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유럽·미국 특허청 (청구항 원문)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23360" y="388620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미연결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56048" y="395020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50992" y="388620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0352" y="4261104"/>
            <a:ext cx="68580" cy="68580"/>
          </a:xfrm>
          <a:prstGeom prst="rect">
            <a:avLst/>
          </a:prstGeom>
          <a:solidFill>
            <a:srgbClr val="E50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8368" y="418338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SEC / EDINET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55648" y="419252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미국·일본 공시 — 테슬라·파나소닉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23360" y="41833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미연결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56048" y="424738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50992" y="418338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0%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0352" y="4558284"/>
            <a:ext cx="68580" cy="68580"/>
          </a:xfrm>
          <a:prstGeom prst="rect">
            <a:avLst/>
          </a:prstGeom>
          <a:solidFill>
            <a:srgbClr val="E50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8368" y="44805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HKEX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755648" y="44897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홍콩 공시 — 중국 경쟁사가 옮겨간 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23360" y="44805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미연결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56048" y="454456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50992" y="448056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0%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0352" y="4855464"/>
            <a:ext cx="68580" cy="68580"/>
          </a:xfrm>
          <a:prstGeom prst="rect">
            <a:avLst/>
          </a:prstGeom>
          <a:solidFill>
            <a:srgbClr val="E50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8368" y="47777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컨퍼런스 발표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55648" y="478688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CIBF·AABC 등 기술세션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23360" y="477774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미연결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956048" y="484174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50992" y="477774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0%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242151" y="2249424"/>
            <a:ext cx="5565496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88455" y="2368296"/>
            <a:ext cx="527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임원에게 무엇을 드리는가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88455" y="2633472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“경쟁사는 하는데 우리는 못 하는 기술”을 이름으로 바로 보여준다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88455" y="2871216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각 항목마다 근거 원문 링크가 붙어 있어 되짚어 확인할 수 있다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88455" y="3108960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얼마나 뒤졌는지를 연 단위로 제시해 투자 시급성을 가른다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88455" y="3346704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추측과 확인을 4단계로 구분해 표시한다 — 확정과 추정을 섞지 않는다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42151" y="3712464"/>
            <a:ext cx="5565496" cy="1389888"/>
          </a:xfrm>
          <a:prstGeom prst="rect">
            <a:avLst/>
          </a:prstGeom>
          <a:solidFill>
            <a:srgbClr val="FFFFFF"/>
          </a:solidFill>
          <a:ln w="15875">
            <a:solidFill>
              <a:srgbClr val="E500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88455" y="3831336"/>
            <a:ext cx="527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E5007D"/>
                </a:solidFill>
                <a:latin typeface="맑은 고딕"/>
              </a:rPr>
              <a:t>지금의 한계 — 솔직하게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88455" y="4096512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화면의 61건은 아직 샘플이다. 실제 데이터와 아직 연결되지 않았다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88455" y="4334256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같은 발명이 나라별로 4건처럼 세어진다 — 특허가족 병합이 없다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88455" y="4572000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한 회사가 법인명 10개로 흩어져 있다 (CATL만 5개, 파나소닉 10개+)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88455" y="4809744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중국·한국 경쟁사의 설비투자 공시는 원천 자체가 비어 있다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84048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84048" y="5230368"/>
            <a:ext cx="38100" cy="1207008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8640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다음 1단계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48640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전체 특허 한 번에 퍼오기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8640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지금은 물어볼 때마다 1억 7천만 건을 훑는다.
한 번 퍼와 쌓으면 그 뒤론 공짜다.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8640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1회 약 2,000원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265093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265093" y="5230368"/>
            <a:ext cx="38100" cy="1207008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429685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다음 2단계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429685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회사명·특허가족 병합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429685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숫자를 믿을 수 있게 만드는 단계.
이게 없으면 건수가 부풀려진다.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429685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추가 비용 없음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46138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146138" y="5230368"/>
            <a:ext cx="38100" cy="1207008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10730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다음 3단계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10730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실데이터를 화면에 연결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310730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샘플 61건 → 수십만 건 기반 판정으로.
임원 보고 화면이 실제가 된다.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310730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추가 비용 없음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027183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027183" y="5230368"/>
            <a:ext cx="38100" cy="1207008"/>
          </a:xfrm>
          <a:prstGeom prst="rect">
            <a:avLst/>
          </a:prstGeom>
          <a:solidFill>
            <a:srgbClr val="E50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191775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합계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191775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약 12 영업일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191775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여기까지 하면 이 화면의 모든 숫자가
실제 수집 데이터가 된다.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91775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E5007D"/>
                </a:solidFill>
                <a:latin typeface="맑은 고딕"/>
              </a:rPr>
              <a:t>총 2,000원 수준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84048" y="6547104"/>
            <a:ext cx="114235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모든 수치는 2026-09-12 실제 호출로 측정한 값입니다. 추정치는 '약'으로 표기했습니다.   |   LG에너지솔루션 기술전략 · 내부 검토용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