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274320"/>
            <a:ext cx="1142359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>
                <a:solidFill>
                  <a:srgbClr val="14181C"/>
                </a:solidFill>
                <a:latin typeface="맑은 고딕"/>
              </a:rPr>
              <a:t>경쟁기술 인텔리전스 V6 — 자사 기술 수준 진단 및 보완 우선순위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694944"/>
            <a:ext cx="114235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79838C"/>
                </a:solidFill>
                <a:latin typeface="맑은 고딕"/>
              </a:rPr>
              <a:t>특허를 핵심 기준으로 판정, 설비투자 공시·기술발표를 보조 근거로 교차 검증함   |   AI 판독: CPC 국제분류 규칙   |   2026-09-13 실측 기준</a:t>
            </a:r>
          </a:p>
        </p:txBody>
      </p:sp>
      <p:sp>
        <p:nvSpPr>
          <p:cNvPr id="5" name="Rectangle 4"/>
          <p:cNvSpPr/>
          <p:nvPr/>
        </p:nvSpPr>
        <p:spPr>
          <a:xfrm>
            <a:off x="384048" y="969264"/>
            <a:ext cx="11423599" cy="19050"/>
          </a:xfrm>
          <a:prstGeom prst="rect">
            <a:avLst/>
          </a:prstGeom>
          <a:solidFill>
            <a:srgbClr val="1418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84048" y="1115568"/>
            <a:ext cx="2218883" cy="932688"/>
          </a:xfrm>
          <a:prstGeom prst="rect">
            <a:avLst/>
          </a:prstGeom>
          <a:solidFill>
            <a:srgbClr val="FFFFFF"/>
          </a:solidFill>
          <a:ln w="9525">
            <a:solidFill>
              <a:srgbClr val="D6DB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12064" y="1216152"/>
            <a:ext cx="196285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79838C"/>
                </a:solidFill>
                <a:latin typeface="맑은 고딕"/>
              </a:rPr>
              <a:t>① 조사 범위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2064" y="1408176"/>
            <a:ext cx="1962851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>
                <a:solidFill>
                  <a:srgbClr val="14181C"/>
                </a:solidFill>
                <a:latin typeface="맑은 고딕"/>
              </a:rPr>
              <a:t>1억 7,041만 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64" y="1755648"/>
            <a:ext cx="196285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414A52"/>
                </a:solidFill>
                <a:latin typeface="맑은 고딕"/>
              </a:rPr>
              <a:t>전 세계 특허 문헌</a:t>
            </a:r>
          </a:p>
        </p:txBody>
      </p:sp>
      <p:sp>
        <p:nvSpPr>
          <p:cNvPr id="10" name="Isosceles Triangle 9"/>
          <p:cNvSpPr/>
          <p:nvPr/>
        </p:nvSpPr>
        <p:spPr>
          <a:xfrm rot="5400000">
            <a:off x="2607503" y="1527048"/>
            <a:ext cx="73152" cy="109728"/>
          </a:xfrm>
          <a:prstGeom prst="triangle">
            <a:avLst/>
          </a:prstGeom>
          <a:solidFill>
            <a:srgbClr val="7983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685227" y="1115568"/>
            <a:ext cx="2218883" cy="932688"/>
          </a:xfrm>
          <a:prstGeom prst="rect">
            <a:avLst/>
          </a:prstGeom>
          <a:solidFill>
            <a:srgbClr val="FFFFFF"/>
          </a:solidFill>
          <a:ln w="9525">
            <a:solidFill>
              <a:srgbClr val="D6DB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13243" y="1216152"/>
            <a:ext cx="196285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79838C"/>
                </a:solidFill>
                <a:latin typeface="맑은 고딕"/>
              </a:rPr>
              <a:t>② 패밀리 병합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13243" y="1408176"/>
            <a:ext cx="1962851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>
                <a:solidFill>
                  <a:srgbClr val="2C6B52"/>
                </a:solidFill>
                <a:latin typeface="맑은 고딕"/>
              </a:rPr>
              <a:t>5만 2,482 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13243" y="1755648"/>
            <a:ext cx="196285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414A52"/>
                </a:solidFill>
                <a:latin typeface="맑은 고딕"/>
              </a:rPr>
              <a:t>특허 16만 5,650건 국가별 중복 제거</a:t>
            </a:r>
          </a:p>
        </p:txBody>
      </p:sp>
      <p:sp>
        <p:nvSpPr>
          <p:cNvPr id="15" name="Isosceles Triangle 14"/>
          <p:cNvSpPr/>
          <p:nvPr/>
        </p:nvSpPr>
        <p:spPr>
          <a:xfrm rot="5400000">
            <a:off x="4908682" y="1527048"/>
            <a:ext cx="73152" cy="109728"/>
          </a:xfrm>
          <a:prstGeom prst="triangle">
            <a:avLst/>
          </a:prstGeom>
          <a:solidFill>
            <a:srgbClr val="7983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986406" y="1115568"/>
            <a:ext cx="2218883" cy="932688"/>
          </a:xfrm>
          <a:prstGeom prst="rect">
            <a:avLst/>
          </a:prstGeom>
          <a:solidFill>
            <a:srgbClr val="FFFFFF"/>
          </a:solidFill>
          <a:ln w="9525">
            <a:solidFill>
              <a:srgbClr val="D6DB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14422" y="1216152"/>
            <a:ext cx="196285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79838C"/>
                </a:solidFill>
                <a:latin typeface="맑은 고딕"/>
              </a:rPr>
              <a:t>③ 기술 배정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14422" y="1408176"/>
            <a:ext cx="1962851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>
                <a:solidFill>
                  <a:srgbClr val="2C6B52"/>
                </a:solidFill>
                <a:latin typeface="맑은 고딕"/>
              </a:rPr>
              <a:t>3만 5,562 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14422" y="1755648"/>
            <a:ext cx="196285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414A52"/>
                </a:solidFill>
                <a:latin typeface="맑은 고딕"/>
              </a:rPr>
              <a:t>CPC 국제분류 판독 적용</a:t>
            </a:r>
          </a:p>
        </p:txBody>
      </p:sp>
      <p:sp>
        <p:nvSpPr>
          <p:cNvPr id="20" name="Isosceles Triangle 19"/>
          <p:cNvSpPr/>
          <p:nvPr/>
        </p:nvSpPr>
        <p:spPr>
          <a:xfrm rot="5400000">
            <a:off x="7209861" y="1527048"/>
            <a:ext cx="73152" cy="109728"/>
          </a:xfrm>
          <a:prstGeom prst="triangle">
            <a:avLst/>
          </a:prstGeom>
          <a:solidFill>
            <a:srgbClr val="7983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287585" y="1115568"/>
            <a:ext cx="2218883" cy="932688"/>
          </a:xfrm>
          <a:prstGeom prst="rect">
            <a:avLst/>
          </a:prstGeom>
          <a:solidFill>
            <a:srgbClr val="FFFFFF"/>
          </a:solidFill>
          <a:ln w="9525">
            <a:solidFill>
              <a:srgbClr val="D6DB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15601" y="1216152"/>
            <a:ext cx="196285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79838C"/>
                </a:solidFill>
                <a:latin typeface="맑은 고딕"/>
              </a:rPr>
              <a:t>④ 판정 기술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15601" y="1408176"/>
            <a:ext cx="1962851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>
                <a:solidFill>
                  <a:srgbClr val="2C6B52"/>
                </a:solidFill>
                <a:latin typeface="맑은 고딕"/>
              </a:rPr>
              <a:t>55 / 57 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15601" y="1755648"/>
            <a:ext cx="196285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414A52"/>
                </a:solidFill>
                <a:latin typeface="맑은 고딕"/>
              </a:rPr>
              <a:t>근거 확보 기술 수</a:t>
            </a:r>
          </a:p>
        </p:txBody>
      </p:sp>
      <p:sp>
        <p:nvSpPr>
          <p:cNvPr id="25" name="Isosceles Triangle 24"/>
          <p:cNvSpPr/>
          <p:nvPr/>
        </p:nvSpPr>
        <p:spPr>
          <a:xfrm rot="5400000">
            <a:off x="9511040" y="1527048"/>
            <a:ext cx="73152" cy="109728"/>
          </a:xfrm>
          <a:prstGeom prst="triangle">
            <a:avLst/>
          </a:prstGeom>
          <a:solidFill>
            <a:srgbClr val="7983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588764" y="1115568"/>
            <a:ext cx="2218883" cy="932688"/>
          </a:xfrm>
          <a:prstGeom prst="rect">
            <a:avLst/>
          </a:prstGeom>
          <a:solidFill>
            <a:srgbClr val="FFFFFF"/>
          </a:solidFill>
          <a:ln w="9525">
            <a:solidFill>
              <a:srgbClr val="D6DB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716780" y="1216152"/>
            <a:ext cx="196285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79838C"/>
                </a:solidFill>
                <a:latin typeface="맑은 고딕"/>
              </a:rPr>
              <a:t>⑤ 신뢰도 '상'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16780" y="1408176"/>
            <a:ext cx="1962851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>
                <a:solidFill>
                  <a:srgbClr val="B9821A"/>
                </a:solidFill>
                <a:latin typeface="맑은 고딕"/>
              </a:rPr>
              <a:t>10 개 기술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716780" y="1755648"/>
            <a:ext cx="196285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414A52"/>
                </a:solidFill>
                <a:latin typeface="맑은 고딕"/>
              </a:rPr>
              <a:t>이종 2축 교차 검증 성립분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84048" y="2249424"/>
            <a:ext cx="5711799" cy="2852928"/>
          </a:xfrm>
          <a:prstGeom prst="rect">
            <a:avLst/>
          </a:prstGeom>
          <a:solidFill>
            <a:srgbClr val="FFFFFF"/>
          </a:solidFill>
          <a:ln w="9525">
            <a:solidFill>
              <a:srgbClr val="D6DB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30352" y="2368296"/>
            <a:ext cx="543747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4181C"/>
                </a:solidFill>
                <a:latin typeface="맑은 고딕"/>
              </a:rPr>
              <a:t>경쟁사별 조사 규모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30352" y="2775204"/>
            <a:ext cx="68580" cy="68580"/>
          </a:xfrm>
          <a:prstGeom prst="rect">
            <a:avLst/>
          </a:prstGeom>
          <a:solidFill>
            <a:srgbClr val="E500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8368" y="2697480"/>
            <a:ext cx="10515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14181C"/>
                </a:solidFill>
                <a:latin typeface="맑은 고딕"/>
              </a:rPr>
              <a:t>자사 (LGES)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755648" y="2706624"/>
            <a:ext cx="22402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79838C"/>
                </a:solidFill>
                <a:latin typeface="맑은 고딕"/>
              </a:rPr>
              <a:t>특허 48,138 · 공시 79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023360" y="2697480"/>
            <a:ext cx="8686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1">
                <a:solidFill>
                  <a:srgbClr val="14181C"/>
                </a:solidFill>
                <a:latin typeface="맑은 고딕"/>
              </a:rPr>
              <a:t>4만 8,217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956048" y="2761488"/>
            <a:ext cx="658368" cy="77724"/>
          </a:xfrm>
          <a:prstGeom prst="rect">
            <a:avLst/>
          </a:prstGeom>
          <a:solidFill>
            <a:srgbClr val="ED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956048" y="2761488"/>
            <a:ext cx="658368" cy="77724"/>
          </a:xfrm>
          <a:prstGeom prst="rect">
            <a:avLst/>
          </a:prstGeom>
          <a:solidFill>
            <a:srgbClr val="E500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650992" y="2697480"/>
            <a:ext cx="30175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1">
                <a:solidFill>
                  <a:srgbClr val="414A52"/>
                </a:solidFill>
                <a:latin typeface="맑은 고딕"/>
              </a:rPr>
              <a:t>100%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30352" y="3072384"/>
            <a:ext cx="68580" cy="68580"/>
          </a:xfrm>
          <a:prstGeom prst="rect">
            <a:avLst/>
          </a:prstGeom>
          <a:solidFill>
            <a:srgbClr val="2C6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58368" y="2994660"/>
            <a:ext cx="10515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14181C"/>
                </a:solidFill>
                <a:latin typeface="맑은 고딕"/>
              </a:rPr>
              <a:t>CATL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755648" y="3003804"/>
            <a:ext cx="22402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79838C"/>
                </a:solidFill>
                <a:latin typeface="맑은 고딕"/>
              </a:rPr>
              <a:t>특허 34,649 · 설비투자 공시 27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023360" y="2994660"/>
            <a:ext cx="8686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1">
                <a:solidFill>
                  <a:srgbClr val="14181C"/>
                </a:solidFill>
                <a:latin typeface="맑은 고딕"/>
              </a:rPr>
              <a:t>3만 4,676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956048" y="3058668"/>
            <a:ext cx="658368" cy="77724"/>
          </a:xfrm>
          <a:prstGeom prst="rect">
            <a:avLst/>
          </a:prstGeom>
          <a:solidFill>
            <a:srgbClr val="ED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956048" y="3058668"/>
            <a:ext cx="467441" cy="77724"/>
          </a:xfrm>
          <a:prstGeom prst="rect">
            <a:avLst/>
          </a:prstGeom>
          <a:solidFill>
            <a:srgbClr val="2C6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650992" y="2994660"/>
            <a:ext cx="30175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1">
                <a:solidFill>
                  <a:srgbClr val="414A52"/>
                </a:solidFill>
                <a:latin typeface="맑은 고딕"/>
              </a:rPr>
              <a:t>71%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30352" y="3369564"/>
            <a:ext cx="68580" cy="68580"/>
          </a:xfrm>
          <a:prstGeom prst="rect">
            <a:avLst/>
          </a:prstGeom>
          <a:solidFill>
            <a:srgbClr val="2C6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58368" y="3291840"/>
            <a:ext cx="10515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14181C"/>
                </a:solidFill>
                <a:latin typeface="맑은 고딕"/>
              </a:rPr>
              <a:t>삼성SDI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755648" y="3300984"/>
            <a:ext cx="22402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79838C"/>
                </a:solidFill>
                <a:latin typeface="맑은 고딕"/>
              </a:rPr>
              <a:t>특허 32,450 · 공시 82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023360" y="3291840"/>
            <a:ext cx="8686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1">
                <a:solidFill>
                  <a:srgbClr val="14181C"/>
                </a:solidFill>
                <a:latin typeface="맑은 고딕"/>
              </a:rPr>
              <a:t>3만 2,532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956048" y="3355848"/>
            <a:ext cx="658368" cy="77724"/>
          </a:xfrm>
          <a:prstGeom prst="rect">
            <a:avLst/>
          </a:prstGeom>
          <a:solidFill>
            <a:srgbClr val="ED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4956048" y="3355848"/>
            <a:ext cx="441106" cy="77724"/>
          </a:xfrm>
          <a:prstGeom prst="rect">
            <a:avLst/>
          </a:prstGeom>
          <a:solidFill>
            <a:srgbClr val="2C6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650992" y="3291840"/>
            <a:ext cx="30175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1">
                <a:solidFill>
                  <a:srgbClr val="414A52"/>
                </a:solidFill>
                <a:latin typeface="맑은 고딕"/>
              </a:rPr>
              <a:t>67%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30352" y="3666744"/>
            <a:ext cx="68580" cy="68580"/>
          </a:xfrm>
          <a:prstGeom prst="rect">
            <a:avLst/>
          </a:prstGeom>
          <a:solidFill>
            <a:srgbClr val="B98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58368" y="3589020"/>
            <a:ext cx="10515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14181C"/>
                </a:solidFill>
                <a:latin typeface="맑은 고딕"/>
              </a:rPr>
              <a:t>파나소닉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755648" y="3598164"/>
            <a:ext cx="22402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79838C"/>
                </a:solidFill>
                <a:latin typeface="맑은 고딕"/>
              </a:rPr>
              <a:t>특허 25,907 · EDINET 미연결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023360" y="3589020"/>
            <a:ext cx="8686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1">
                <a:solidFill>
                  <a:srgbClr val="14181C"/>
                </a:solidFill>
                <a:latin typeface="맑은 고딕"/>
              </a:rPr>
              <a:t>2만 5,908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956048" y="3653028"/>
            <a:ext cx="658368" cy="77724"/>
          </a:xfrm>
          <a:prstGeom prst="rect">
            <a:avLst/>
          </a:prstGeom>
          <a:solidFill>
            <a:srgbClr val="ED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4956048" y="3653028"/>
            <a:ext cx="348935" cy="77724"/>
          </a:xfrm>
          <a:prstGeom prst="rect">
            <a:avLst/>
          </a:prstGeom>
          <a:solidFill>
            <a:srgbClr val="B98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650992" y="3589020"/>
            <a:ext cx="30175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1">
                <a:solidFill>
                  <a:srgbClr val="414A52"/>
                </a:solidFill>
                <a:latin typeface="맑은 고딕"/>
              </a:rPr>
              <a:t>53%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30352" y="3963924"/>
            <a:ext cx="68580" cy="68580"/>
          </a:xfrm>
          <a:prstGeom prst="rect">
            <a:avLst/>
          </a:prstGeom>
          <a:solidFill>
            <a:srgbClr val="B98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58368" y="3886200"/>
            <a:ext cx="10515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14181C"/>
                </a:solidFill>
                <a:latin typeface="맑은 고딕"/>
              </a:rPr>
              <a:t>BYD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755648" y="3895344"/>
            <a:ext cx="22402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79838C"/>
                </a:solidFill>
                <a:latin typeface="맑은 고딕"/>
              </a:rPr>
              <a:t>특허 10,614 · 설비투자 원천 부재 확인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023360" y="3886200"/>
            <a:ext cx="8686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1">
                <a:solidFill>
                  <a:srgbClr val="14181C"/>
                </a:solidFill>
                <a:latin typeface="맑은 고딕"/>
              </a:rPr>
              <a:t>1만 621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956048" y="3950208"/>
            <a:ext cx="658368" cy="77724"/>
          </a:xfrm>
          <a:prstGeom prst="rect">
            <a:avLst/>
          </a:prstGeom>
          <a:solidFill>
            <a:srgbClr val="ED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4956048" y="3950208"/>
            <a:ext cx="144840" cy="77724"/>
          </a:xfrm>
          <a:prstGeom prst="rect">
            <a:avLst/>
          </a:prstGeom>
          <a:solidFill>
            <a:srgbClr val="B98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650992" y="3886200"/>
            <a:ext cx="30175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1">
                <a:solidFill>
                  <a:srgbClr val="414A52"/>
                </a:solidFill>
                <a:latin typeface="맑은 고딕"/>
              </a:rPr>
              <a:t>22%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30352" y="4261104"/>
            <a:ext cx="68580" cy="68580"/>
          </a:xfrm>
          <a:prstGeom prst="rect">
            <a:avLst/>
          </a:prstGeom>
          <a:solidFill>
            <a:srgbClr val="2C6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58368" y="4183380"/>
            <a:ext cx="10515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14181C"/>
                </a:solidFill>
                <a:latin typeface="맑은 고딕"/>
              </a:rPr>
              <a:t>SK온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755648" y="4192524"/>
            <a:ext cx="22402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79838C"/>
                </a:solidFill>
                <a:latin typeface="맑은 고딕"/>
              </a:rPr>
              <a:t>특허 9,283 · 공시 62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023360" y="4183380"/>
            <a:ext cx="8686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1">
                <a:solidFill>
                  <a:srgbClr val="14181C"/>
                </a:solidFill>
                <a:latin typeface="맑은 고딕"/>
              </a:rPr>
              <a:t>9,345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956048" y="4247388"/>
            <a:ext cx="658368" cy="77724"/>
          </a:xfrm>
          <a:prstGeom prst="rect">
            <a:avLst/>
          </a:prstGeom>
          <a:solidFill>
            <a:srgbClr val="ED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4956048" y="4247388"/>
            <a:ext cx="125089" cy="77724"/>
          </a:xfrm>
          <a:prstGeom prst="rect">
            <a:avLst/>
          </a:prstGeom>
          <a:solidFill>
            <a:srgbClr val="2C6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5650992" y="4183380"/>
            <a:ext cx="30175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1">
                <a:solidFill>
                  <a:srgbClr val="414A52"/>
                </a:solidFill>
                <a:latin typeface="맑은 고딕"/>
              </a:rPr>
              <a:t>19%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530352" y="4558284"/>
            <a:ext cx="68580" cy="68580"/>
          </a:xfrm>
          <a:prstGeom prst="rect">
            <a:avLst/>
          </a:prstGeom>
          <a:solidFill>
            <a:srgbClr val="B98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58368" y="4480560"/>
            <a:ext cx="10515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14181C"/>
                </a:solidFill>
                <a:latin typeface="맑은 고딕"/>
              </a:rPr>
              <a:t>테슬라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755648" y="4489704"/>
            <a:ext cx="22402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79838C"/>
                </a:solidFill>
                <a:latin typeface="맑은 고딕"/>
              </a:rPr>
              <a:t>특허 1,276 · SEC 본문검색 연결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023360" y="4480560"/>
            <a:ext cx="8686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1">
                <a:solidFill>
                  <a:srgbClr val="14181C"/>
                </a:solidFill>
                <a:latin typeface="맑은 고딕"/>
              </a:rPr>
              <a:t>1,276</a:t>
            </a:r>
          </a:p>
        </p:txBody>
      </p:sp>
      <p:sp>
        <p:nvSpPr>
          <p:cNvPr id="78" name="Rectangle 77"/>
          <p:cNvSpPr/>
          <p:nvPr/>
        </p:nvSpPr>
        <p:spPr>
          <a:xfrm>
            <a:off x="4956048" y="4544568"/>
            <a:ext cx="658368" cy="77724"/>
          </a:xfrm>
          <a:prstGeom prst="rect">
            <a:avLst/>
          </a:prstGeom>
          <a:solidFill>
            <a:srgbClr val="ED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4956048" y="4544568"/>
            <a:ext cx="13167" cy="77724"/>
          </a:xfrm>
          <a:prstGeom prst="rect">
            <a:avLst/>
          </a:prstGeom>
          <a:solidFill>
            <a:srgbClr val="B98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5650992" y="4480560"/>
            <a:ext cx="30175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1">
                <a:solidFill>
                  <a:srgbClr val="414A52"/>
                </a:solidFill>
                <a:latin typeface="맑은 고딕"/>
              </a:rPr>
              <a:t>2%</a:t>
            </a:r>
          </a:p>
        </p:txBody>
      </p:sp>
      <p:sp>
        <p:nvSpPr>
          <p:cNvPr id="81" name="Rectangle 80"/>
          <p:cNvSpPr/>
          <p:nvPr/>
        </p:nvSpPr>
        <p:spPr>
          <a:xfrm>
            <a:off x="530352" y="4855464"/>
            <a:ext cx="68580" cy="68580"/>
          </a:xfrm>
          <a:prstGeom prst="rect">
            <a:avLst/>
          </a:prstGeom>
          <a:solidFill>
            <a:srgbClr val="1418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658368" y="4777740"/>
            <a:ext cx="10515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14181C"/>
                </a:solidFill>
                <a:latin typeface="맑은 고딕"/>
              </a:rPr>
              <a:t>합계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755648" y="4786884"/>
            <a:ext cx="22402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79838C"/>
                </a:solidFill>
                <a:latin typeface="맑은 고딕"/>
              </a:rPr>
              <a:t>경쟁사 6사 + 자사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023360" y="4777740"/>
            <a:ext cx="8686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1">
                <a:solidFill>
                  <a:srgbClr val="14181C"/>
                </a:solidFill>
                <a:latin typeface="맑은 고딕"/>
              </a:rPr>
              <a:t>16만 2,575</a:t>
            </a:r>
          </a:p>
        </p:txBody>
      </p:sp>
      <p:sp>
        <p:nvSpPr>
          <p:cNvPr id="85" name="Rectangle 84"/>
          <p:cNvSpPr/>
          <p:nvPr/>
        </p:nvSpPr>
        <p:spPr>
          <a:xfrm>
            <a:off x="4956048" y="4841748"/>
            <a:ext cx="658368" cy="77724"/>
          </a:xfrm>
          <a:prstGeom prst="rect">
            <a:avLst/>
          </a:prstGeom>
          <a:solidFill>
            <a:srgbClr val="ED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4956048" y="4841748"/>
            <a:ext cx="658368" cy="77724"/>
          </a:xfrm>
          <a:prstGeom prst="rect">
            <a:avLst/>
          </a:prstGeom>
          <a:solidFill>
            <a:srgbClr val="1418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5650992" y="4777740"/>
            <a:ext cx="30175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1">
                <a:solidFill>
                  <a:srgbClr val="414A52"/>
                </a:solidFill>
                <a:latin typeface="맑은 고딕"/>
              </a:rPr>
              <a:t>100%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242151" y="2249424"/>
            <a:ext cx="5565496" cy="1389888"/>
          </a:xfrm>
          <a:prstGeom prst="rect">
            <a:avLst/>
          </a:prstGeom>
          <a:solidFill>
            <a:srgbClr val="FFFFFF"/>
          </a:solidFill>
          <a:ln w="9525">
            <a:solidFill>
              <a:srgbClr val="D6DB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6388455" y="2368296"/>
            <a:ext cx="527288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4181C"/>
                </a:solidFill>
                <a:latin typeface="맑은 고딕"/>
              </a:rPr>
              <a:t>의사결정 지원 항목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388455" y="2633472"/>
            <a:ext cx="527288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414A52"/>
                </a:solidFill>
                <a:latin typeface="맑은 고딕"/>
              </a:rPr>
              <a:t>· 공정기술 57개 전량을 열위 17 · 동등 15 · 우위 20 · 판정 불가 5 로 구분 제시함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6388455" y="2871216"/>
            <a:ext cx="527288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414A52"/>
                </a:solidFill>
                <a:latin typeface="맑은 고딕"/>
              </a:rPr>
              <a:t>· 시급도 = 기술 격차 × 경쟁사 확산도 × 근거 확실성 — 보완 우선순위 도출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388455" y="3108960"/>
            <a:ext cx="527288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414A52"/>
                </a:solidFill>
                <a:latin typeface="맑은 고딕"/>
              </a:rPr>
              <a:t>· 기술 격차를 특허·공시·발표 3축 대리 지표로 추정, 기준·보수 듀얼 트랙 제시함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388455" y="3346704"/>
            <a:ext cx="527288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414A52"/>
                </a:solidFill>
                <a:latin typeface="맑은 고딕"/>
              </a:rPr>
              <a:t>· 전 수치에 근거 목록 및 원문 링크 연결 — 원천까지 역추적 가능함</a:t>
            </a:r>
          </a:p>
        </p:txBody>
      </p:sp>
      <p:sp>
        <p:nvSpPr>
          <p:cNvPr id="94" name="Rectangle 93"/>
          <p:cNvSpPr/>
          <p:nvPr/>
        </p:nvSpPr>
        <p:spPr>
          <a:xfrm>
            <a:off x="6242151" y="3712464"/>
            <a:ext cx="5565496" cy="1389888"/>
          </a:xfrm>
          <a:prstGeom prst="rect">
            <a:avLst/>
          </a:prstGeom>
          <a:solidFill>
            <a:srgbClr val="FFFFFF"/>
          </a:solidFill>
          <a:ln w="15875">
            <a:solidFill>
              <a:srgbClr val="E500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6388455" y="3831336"/>
            <a:ext cx="527288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E5007D"/>
                </a:solidFill>
                <a:latin typeface="맑은 고딕"/>
              </a:rPr>
              <a:t>한계 및 후속 과제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6388455" y="4096512"/>
            <a:ext cx="527288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414A52"/>
                </a:solidFill>
                <a:latin typeface="맑은 고딕"/>
              </a:rPr>
              <a:t>· 경쟁사 수율·제조원가 비공개 — 본 모델 산출 대상에서 명시적 제외함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6388455" y="4334256"/>
            <a:ext cx="527288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414A52"/>
                </a:solidFill>
                <a:latin typeface="맑은 고딕"/>
              </a:rPr>
              <a:t>· 기존 '미보유' 18건 전량에서 자사 특허 검색됨 — 공정기술팀 재검증 필요함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6388455" y="4572000"/>
            <a:ext cx="527288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414A52"/>
                </a:solidFill>
                <a:latin typeface="맑은 고딕"/>
              </a:rPr>
              <a:t>· 설비투자 공시는 공장 단위 정보로 전사 근거로만 반영함 — 기술 단위 배정 불가함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6388455" y="4809744"/>
            <a:ext cx="527288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414A52"/>
                </a:solidFill>
                <a:latin typeface="맑은 고딕"/>
              </a:rPr>
              <a:t>· BYD 설비투자 원천 부재 확인 · 파나소닉은 EDINET 키 발급 필요함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384048" y="5230368"/>
            <a:ext cx="2780461" cy="1207008"/>
          </a:xfrm>
          <a:prstGeom prst="rect">
            <a:avLst/>
          </a:prstGeom>
          <a:solidFill>
            <a:srgbClr val="FFFFFF"/>
          </a:solidFill>
          <a:ln w="9525">
            <a:solidFill>
              <a:srgbClr val="D6DB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384048" y="5230368"/>
            <a:ext cx="38100" cy="1207008"/>
          </a:xfrm>
          <a:prstGeom prst="rect">
            <a:avLst/>
          </a:prstGeom>
          <a:solidFill>
            <a:srgbClr val="2C6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548640" y="5330952"/>
            <a:ext cx="2506141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79838C"/>
                </a:solidFill>
                <a:latin typeface="맑은 고딕"/>
              </a:rPr>
              <a:t>완료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8640" y="5504688"/>
            <a:ext cx="250614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4181C"/>
                </a:solidFill>
                <a:latin typeface="맑은 고딕"/>
              </a:rPr>
              <a:t>3축 격차 추정 모델 적용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548640" y="5779008"/>
            <a:ext cx="2506141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414A52"/>
                </a:solidFill>
                <a:latin typeface="맑은 고딕"/>
              </a:rPr>
              <a:t>패밀리 병합 16만 5,650→5만 2,482건.
보정 계수·듀얼 트랙 적용 완료.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548640" y="6199632"/>
            <a:ext cx="250614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2C6B52"/>
                </a:solidFill>
                <a:latin typeface="맑은 고딕"/>
              </a:rPr>
              <a:t>추가 비용 없음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3265093" y="5230368"/>
            <a:ext cx="2780461" cy="1207008"/>
          </a:xfrm>
          <a:prstGeom prst="rect">
            <a:avLst/>
          </a:prstGeom>
          <a:solidFill>
            <a:srgbClr val="FFFFFF"/>
          </a:solidFill>
          <a:ln w="9525">
            <a:solidFill>
              <a:srgbClr val="D6DB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3265093" y="5230368"/>
            <a:ext cx="38100" cy="1207008"/>
          </a:xfrm>
          <a:prstGeom prst="rect">
            <a:avLst/>
          </a:prstGeom>
          <a:solidFill>
            <a:srgbClr val="2C6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3429685" y="5330952"/>
            <a:ext cx="2506141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79838C"/>
                </a:solidFill>
                <a:latin typeface="맑은 고딕"/>
              </a:rPr>
              <a:t>완료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3429685" y="5504688"/>
            <a:ext cx="250614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4181C"/>
                </a:solidFill>
                <a:latin typeface="맑은 고딕"/>
              </a:rPr>
              <a:t>데이터 확충 — 축 2 가동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3429685" y="5779008"/>
            <a:ext cx="2506141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414A52"/>
                </a:solidFill>
                <a:latin typeface="맑은 고딕"/>
              </a:rPr>
              <a:t>관측 16년치·피인용 확보.
신뢰도 '상' 10건 도출.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3429685" y="6199632"/>
            <a:ext cx="250614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2C6B52"/>
                </a:solidFill>
                <a:latin typeface="맑은 고딕"/>
              </a:rPr>
              <a:t>BQ 60.6GB(무료분)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6146138" y="5230368"/>
            <a:ext cx="2780461" cy="1207008"/>
          </a:xfrm>
          <a:prstGeom prst="rect">
            <a:avLst/>
          </a:prstGeom>
          <a:solidFill>
            <a:srgbClr val="FFFFFF"/>
          </a:solidFill>
          <a:ln w="9525">
            <a:solidFill>
              <a:srgbClr val="D6DB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6146138" y="5230368"/>
            <a:ext cx="38100" cy="1207008"/>
          </a:xfrm>
          <a:prstGeom prst="rect">
            <a:avLst/>
          </a:prstGeom>
          <a:solidFill>
            <a:srgbClr val="B98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6310730" y="5330952"/>
            <a:ext cx="2506141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79838C"/>
                </a:solidFill>
                <a:latin typeface="맑은 고딕"/>
              </a:rPr>
              <a:t>1단계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6310730" y="5504688"/>
            <a:ext cx="250614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4181C"/>
                </a:solidFill>
                <a:latin typeface="맑은 고딕"/>
              </a:rPr>
              <a:t>자사 보유 현황 확정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6310730" y="5779008"/>
            <a:ext cx="2506141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414A52"/>
                </a:solidFill>
                <a:latin typeface="맑은 고딕"/>
              </a:rPr>
              <a:t>'미보유' 18건 재검증 추진.
공정기술팀 확인 필요함.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6310730" y="6199632"/>
            <a:ext cx="250614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B9821A"/>
                </a:solidFill>
                <a:latin typeface="맑은 고딕"/>
              </a:rPr>
              <a:t>약 3일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9027183" y="5230368"/>
            <a:ext cx="2780461" cy="1207008"/>
          </a:xfrm>
          <a:prstGeom prst="rect">
            <a:avLst/>
          </a:prstGeom>
          <a:solidFill>
            <a:srgbClr val="FFFFFF"/>
          </a:solidFill>
          <a:ln w="9525">
            <a:solidFill>
              <a:srgbClr val="D6DB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9027183" y="5230368"/>
            <a:ext cx="38100" cy="1207008"/>
          </a:xfrm>
          <a:prstGeom prst="rect">
            <a:avLst/>
          </a:prstGeom>
          <a:solidFill>
            <a:srgbClr val="B98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9191775" y="5330952"/>
            <a:ext cx="2506141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79838C"/>
                </a:solidFill>
                <a:latin typeface="맑은 고딕"/>
              </a:rPr>
              <a:t>2단계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9191775" y="5504688"/>
            <a:ext cx="250614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4181C"/>
                </a:solidFill>
                <a:latin typeface="맑은 고딕"/>
              </a:rPr>
              <a:t>EDINET·EPO 연결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9191775" y="5779008"/>
            <a:ext cx="2506141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414A52"/>
                </a:solidFill>
                <a:latin typeface="맑은 고딕"/>
              </a:rPr>
              <a:t>파나소닉 설비투자 및 청구항 원문.
키 발급 후 즉시 적용 가능함.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191775" y="6199632"/>
            <a:ext cx="250614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B9821A"/>
                </a:solidFill>
                <a:latin typeface="맑은 고딕"/>
              </a:rPr>
              <a:t>약 2일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84048" y="6547104"/>
            <a:ext cx="1142359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79838C"/>
                </a:solidFill>
                <a:latin typeface="맑은 고딕"/>
              </a:rPr>
              <a:t>전 수치는 2026-09-13 실측값이며, 추정치는 '약'으로 표기함.   |   LG에너지솔루션 기술전략 · 내부 검토용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418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>
                <a:solidFill>
                  <a:srgbClr val="14181C"/>
                </a:solidFill>
                <a:latin typeface="맑은 고딕"/>
              </a:rPr>
              <a:t>기술 격차 추정 모델 개요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9494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79838C"/>
                </a:solidFill>
                <a:latin typeface="맑은 고딕"/>
              </a:rPr>
              <a:t>특허·설비투자 공시·대외 기술발표 3축 대리 지표 결합 방식   |   경쟁사 수율·제조원가는 비공개로 산출 대상에서 제외함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133856"/>
            <a:ext cx="11057839" cy="566928"/>
          </a:xfrm>
          <a:prstGeom prst="rect">
            <a:avLst/>
          </a:prstGeom>
          <a:solidFill>
            <a:srgbClr val="EFF1F2"/>
          </a:solidFill>
          <a:ln w="9525">
            <a:solidFill>
              <a:srgbClr val="D6DB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1280160"/>
            <a:ext cx="1065550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4181C"/>
                </a:solidFill>
                <a:latin typeface="맑은 고딕"/>
              </a:rPr>
              <a:t>기술 격차 = 실행 소요기간 × 3축 관측 보정 계수 × 불확실성 여유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883664"/>
            <a:ext cx="3600602" cy="1627632"/>
          </a:xfrm>
          <a:prstGeom prst="rect">
            <a:avLst/>
          </a:prstGeom>
          <a:solidFill>
            <a:srgbClr val="FFFFFF"/>
          </a:solidFill>
          <a:ln w="9525">
            <a:solidFill>
              <a:srgbClr val="D6DB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1883664"/>
            <a:ext cx="3600602" cy="38100"/>
          </a:xfrm>
          <a:prstGeom prst="rect">
            <a:avLst/>
          </a:prstGeom>
          <a:solidFill>
            <a:srgbClr val="2C6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2029968"/>
            <a:ext cx="327141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79838C"/>
                </a:solidFill>
                <a:latin typeface="맑은 고딕"/>
              </a:rPr>
              <a:t>축 1 · 특허   </a:t>
            </a:r>
            <a:r>
              <a:rPr sz="900" b="1">
                <a:solidFill>
                  <a:srgbClr val="2C6B52"/>
                </a:solidFill>
                <a:latin typeface="맑은 고딕"/>
              </a:rPr>
              <a:t>가중 55%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231136"/>
            <a:ext cx="327141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4181C"/>
                </a:solidFill>
                <a:latin typeface="맑은 고딕"/>
              </a:rPr>
              <a:t>R&amp;D 선행 격차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523744"/>
            <a:ext cx="3271418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414A52"/>
                </a:solidFill>
                <a:latin typeface="맑은 고딕"/>
              </a:rPr>
              <a:t>패밀리 병합 후 선점 시점 격차와
품질 가중 출원량을 개월로 환산함.
국가 수·등록·피인용 반영함.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236976"/>
            <a:ext cx="327141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2C6B52"/>
                </a:solidFill>
                <a:latin typeface="맑은 고딕"/>
              </a:rPr>
              <a:t>가동 중 · 52개 기술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95546" y="1883664"/>
            <a:ext cx="3600602" cy="1627632"/>
          </a:xfrm>
          <a:prstGeom prst="rect">
            <a:avLst/>
          </a:prstGeom>
          <a:solidFill>
            <a:srgbClr val="FFFFFF"/>
          </a:solidFill>
          <a:ln w="9525">
            <a:solidFill>
              <a:srgbClr val="D6DB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95546" y="1883664"/>
            <a:ext cx="3600602" cy="38100"/>
          </a:xfrm>
          <a:prstGeom prst="rect">
            <a:avLst/>
          </a:prstGeom>
          <a:solidFill>
            <a:srgbClr val="2C6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60138" y="2029968"/>
            <a:ext cx="327141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79838C"/>
                </a:solidFill>
                <a:latin typeface="맑은 고딕"/>
              </a:rPr>
              <a:t>축 2 · 공시   </a:t>
            </a:r>
            <a:r>
              <a:rPr sz="900" b="1">
                <a:solidFill>
                  <a:srgbClr val="2C6B52"/>
                </a:solidFill>
                <a:latin typeface="맑은 고딕"/>
              </a:rPr>
              <a:t>가중 30%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60138" y="2231136"/>
            <a:ext cx="327141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4181C"/>
                </a:solidFill>
                <a:latin typeface="맑은 고딕"/>
              </a:rPr>
              <a:t>양산 진입 격차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60138" y="2523744"/>
            <a:ext cx="3271418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414A52"/>
                </a:solidFill>
                <a:latin typeface="맑은 고딕"/>
              </a:rPr>
              <a:t>투자 규모·준공 시점으로 SOP
진입 시점을 추정함.
일정 지연 계수 1.35 적용함.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60138" y="3236976"/>
            <a:ext cx="327141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2C6B52"/>
                </a:solidFill>
                <a:latin typeface="맑은 고딕"/>
              </a:rPr>
              <a:t>전사 근거로 가동 · 25개 기술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24164" y="1883664"/>
            <a:ext cx="3600602" cy="1627632"/>
          </a:xfrm>
          <a:prstGeom prst="rect">
            <a:avLst/>
          </a:prstGeom>
          <a:solidFill>
            <a:srgbClr val="FFFFFF"/>
          </a:solidFill>
          <a:ln w="9525">
            <a:solidFill>
              <a:srgbClr val="D6DB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24164" y="1883664"/>
            <a:ext cx="3600602" cy="38100"/>
          </a:xfrm>
          <a:prstGeom prst="rect">
            <a:avLst/>
          </a:prstGeom>
          <a:solidFill>
            <a:srgbClr val="B98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88756" y="2029968"/>
            <a:ext cx="327141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79838C"/>
                </a:solidFill>
                <a:latin typeface="맑은 고딕"/>
              </a:rPr>
              <a:t>축 3 · 발표   </a:t>
            </a:r>
            <a:r>
              <a:rPr sz="900" b="1">
                <a:solidFill>
                  <a:srgbClr val="B9821A"/>
                </a:solidFill>
                <a:latin typeface="맑은 고딕"/>
              </a:rPr>
              <a:t>가중 15%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88756" y="2231136"/>
            <a:ext cx="327141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4181C"/>
                </a:solidFill>
                <a:latin typeface="맑은 고딕"/>
              </a:rPr>
              <a:t>스펙 수준 격차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88756" y="2523744"/>
            <a:ext cx="3271418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414A52"/>
                </a:solidFill>
                <a:latin typeface="맑은 고딕"/>
              </a:rPr>
              <a:t>발표 목표 스펙과 자사 현행
스펙의 성능 갭을 환산함.
마케팅 보정 0.75 적용함.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88756" y="3236976"/>
            <a:ext cx="327141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B9821A"/>
                </a:solidFill>
                <a:latin typeface="맑은 고딕"/>
              </a:rPr>
              <a:t>표본 확대 필요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66928" y="3694176"/>
            <a:ext cx="5464911" cy="1078992"/>
          </a:xfrm>
          <a:prstGeom prst="rect">
            <a:avLst/>
          </a:prstGeom>
          <a:solidFill>
            <a:srgbClr val="FFFFFF"/>
          </a:solidFill>
          <a:ln w="15875">
            <a:solidFill>
              <a:srgbClr val="1418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9808" y="3822192"/>
            <a:ext cx="509915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4181C"/>
                </a:solidFill>
                <a:latin typeface="맑은 고딕"/>
              </a:rPr>
              <a:t>기준 시나리오 (Base)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9808" y="4078224"/>
            <a:ext cx="509915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79838C"/>
                </a:solidFill>
                <a:latin typeface="맑은 고딕"/>
              </a:rPr>
              <a:t>공시·발표에 보정 계수 적용분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9808" y="4297680"/>
            <a:ext cx="5099151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414A52"/>
                </a:solidFill>
                <a:latin typeface="맑은 고딕"/>
              </a:rPr>
              <a:t>마케팅성 과장 및 일정 지연을 차감한 값임.
보완 투자 의사결정의 기준선으로 적용함.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159855" y="3694176"/>
            <a:ext cx="5464911" cy="1078992"/>
          </a:xfrm>
          <a:prstGeom prst="rect">
            <a:avLst/>
          </a:prstGeom>
          <a:solidFill>
            <a:srgbClr val="FFFFFF"/>
          </a:solidFill>
          <a:ln w="15875">
            <a:solidFill>
              <a:srgbClr val="E500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42735" y="3822192"/>
            <a:ext cx="509915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E5007D"/>
                </a:solidFill>
                <a:latin typeface="맑은 고딕"/>
              </a:rPr>
              <a:t>보수 시나리오 (Conservative)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42735" y="4078224"/>
            <a:ext cx="509915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79838C"/>
                </a:solidFill>
                <a:latin typeface="맑은 고딕"/>
              </a:rPr>
              <a:t>공시·발표 액면가 수용분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42735" y="4297680"/>
            <a:ext cx="5099151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414A52"/>
                </a:solidFill>
                <a:latin typeface="맑은 고딕"/>
              </a:rPr>
              <a:t>경쟁사 발표가 전량 실행될 경우의 값임.
기준값과의 차이는 발표 의존도를 의미함.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66928" y="4956048"/>
            <a:ext cx="11057839" cy="1371600"/>
          </a:xfrm>
          <a:prstGeom prst="rect">
            <a:avLst/>
          </a:prstGeom>
          <a:solidFill>
            <a:srgbClr val="FFFFFF"/>
          </a:solidFill>
          <a:ln w="15875">
            <a:solidFill>
              <a:srgbClr val="1418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68096" y="5084064"/>
            <a:ext cx="1065550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4181C"/>
                </a:solidFill>
                <a:latin typeface="맑은 고딕"/>
              </a:rPr>
              <a:t>예상 질의 대응 — "수율·양산 데이터 없이 신뢰 가능한가"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8096" y="5358384"/>
            <a:ext cx="1065550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414A52"/>
                </a:solidFill>
                <a:latin typeface="맑은 고딕"/>
              </a:rPr>
              <a:t>1. 본 수치는 경쟁사 절대 진도가 아닌, 검증 가능한 공개 근거상의 상대 격차임. 수율·원가는 산출 대상에서 명시적으로 제외하였음.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68096" y="5660136"/>
            <a:ext cx="1065550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414A52"/>
                </a:solidFill>
                <a:latin typeface="맑은 고딕"/>
              </a:rPr>
              <a:t>2. 발표·공시는 액면가 미반영함. 마케팅 보정 0.75 및 일정 지연 1.35 적용 기준값과 액면가 수용 보수값을 병행 제시하며, 양자 차이를 발표 의존도로 표기함.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68096" y="5961888"/>
            <a:ext cx="1065550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414A52"/>
                </a:solidFill>
                <a:latin typeface="맑은 고딕"/>
              </a:rPr>
              <a:t>3. 전 수치는 원문까지 역추적 가능하며, 근거 부족 건은 '판정 불가'로 분리 표기함. 신뢰도 '상' 판정은 이종 2축 교차 검증이 성립한 10건에 한정하며, 확인 범위를 초과하여 주장하지 않음.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66928" y="6547104"/>
            <a:ext cx="1105783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79838C"/>
                </a:solidFill>
                <a:latin typeface="맑은 고딕"/>
              </a:rPr>
              <a:t>보정 계수는 업계 통상치 적용분이며, 사내 실적 데이터 확보 시 해당 값으로 대체 적용 예정임.   |   LG에너지솔루션 기술전략 · 내부 검토용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