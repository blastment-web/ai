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74320"/>
            <a:ext cx="11423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4181C"/>
                </a:solidFill>
                <a:latin typeface="맑은 고딕"/>
              </a:rPr>
              <a:t>경쟁기술 인텔리전스 — 무엇을 조사했고, 우리는 어디에 서 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694944"/>
            <a:ext cx="114235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9838C"/>
                </a:solidFill>
                <a:latin typeface="맑은 고딕"/>
              </a:rPr>
              <a:t>배터리 공정기술 57개를 경쟁사 6사와 비교했습니다   |   모든 숫자는 2026-09-13 실제 조사값입니다   |   근거마다 특허 원문 링크가 붙어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969264"/>
            <a:ext cx="11423599" cy="1905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115568"/>
            <a:ext cx="2218883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216152"/>
            <a:ext cx="19628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9838C"/>
                </a:solidFill>
                <a:latin typeface="맑은 고딕"/>
              </a:rPr>
              <a:t>① 조사한 범위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" y="1408176"/>
            <a:ext cx="19628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4181C"/>
                </a:solidFill>
                <a:latin typeface="맑은 고딕"/>
              </a:rPr>
              <a:t>1억 7,041만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755648"/>
            <a:ext cx="19628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전 세계 특허 문헌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2607503" y="1527048"/>
            <a:ext cx="73152" cy="109728"/>
          </a:xfrm>
          <a:prstGeom prst="triangle">
            <a:avLst/>
          </a:prstGeom>
          <a:solidFill>
            <a:srgbClr val="798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85227" y="1115568"/>
            <a:ext cx="2218883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13243" y="1216152"/>
            <a:ext cx="19628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9838C"/>
                </a:solidFill>
                <a:latin typeface="맑은 고딕"/>
              </a:rPr>
              <a:t>② 실제로 가져온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3243" y="1408176"/>
            <a:ext cx="19628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C6B52"/>
                </a:solidFill>
                <a:latin typeface="맑은 고딕"/>
              </a:rPr>
              <a:t>4만 1,685 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3243" y="1755648"/>
            <a:ext cx="19628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경쟁사 특허 4만 + 국내 1,665 + 공시 20</a:t>
            </a:r>
          </a:p>
        </p:txBody>
      </p:sp>
      <p:sp>
        <p:nvSpPr>
          <p:cNvPr id="15" name="Isosceles Triangle 14"/>
          <p:cNvSpPr/>
          <p:nvPr/>
        </p:nvSpPr>
        <p:spPr>
          <a:xfrm rot="5400000">
            <a:off x="4908682" y="1527048"/>
            <a:ext cx="73152" cy="109728"/>
          </a:xfrm>
          <a:prstGeom prst="triangle">
            <a:avLst/>
          </a:prstGeom>
          <a:solidFill>
            <a:srgbClr val="798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6406" y="1115568"/>
            <a:ext cx="2218883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4422" y="1216152"/>
            <a:ext cx="19628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9838C"/>
                </a:solidFill>
                <a:latin typeface="맑은 고딕"/>
              </a:rPr>
              <a:t>③ 기술에 배정한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4422" y="1408176"/>
            <a:ext cx="19628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C6B52"/>
                </a:solidFill>
                <a:latin typeface="맑은 고딕"/>
              </a:rPr>
              <a:t>1만 1,051 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4422" y="1755648"/>
            <a:ext cx="19628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CPC 국제분류로 판독</a:t>
            </a:r>
          </a:p>
        </p:txBody>
      </p:sp>
      <p:sp>
        <p:nvSpPr>
          <p:cNvPr id="20" name="Isosceles Triangle 19"/>
          <p:cNvSpPr/>
          <p:nvPr/>
        </p:nvSpPr>
        <p:spPr>
          <a:xfrm rot="5400000">
            <a:off x="7209861" y="1527048"/>
            <a:ext cx="73152" cy="109728"/>
          </a:xfrm>
          <a:prstGeom prst="triangle">
            <a:avLst/>
          </a:prstGeom>
          <a:solidFill>
            <a:srgbClr val="798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87585" y="1115568"/>
            <a:ext cx="2218883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5601" y="1216152"/>
            <a:ext cx="19628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9838C"/>
                </a:solidFill>
                <a:latin typeface="맑은 고딕"/>
              </a:rPr>
              <a:t>④ 판정한 기술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5601" y="1408176"/>
            <a:ext cx="19628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C6B52"/>
                </a:solidFill>
                <a:latin typeface="맑은 고딕"/>
              </a:rPr>
              <a:t>54 / 57 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5601" y="1755648"/>
            <a:ext cx="19628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근거를 확보한 기술 수</a:t>
            </a:r>
          </a:p>
        </p:txBody>
      </p:sp>
      <p:sp>
        <p:nvSpPr>
          <p:cNvPr id="25" name="Isosceles Triangle 24"/>
          <p:cNvSpPr/>
          <p:nvPr/>
        </p:nvSpPr>
        <p:spPr>
          <a:xfrm rot="5400000">
            <a:off x="9511040" y="1527048"/>
            <a:ext cx="73152" cy="109728"/>
          </a:xfrm>
          <a:prstGeom prst="triangle">
            <a:avLst/>
          </a:prstGeom>
          <a:solidFill>
            <a:srgbClr val="798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88764" y="1115568"/>
            <a:ext cx="2218883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16780" y="1216152"/>
            <a:ext cx="19628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9838C"/>
                </a:solidFill>
                <a:latin typeface="맑은 고딕"/>
              </a:rPr>
              <a:t>⑤ 완성도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16780" y="1408176"/>
            <a:ext cx="19628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B9821A"/>
                </a:solidFill>
                <a:latin typeface="맑은 고딕"/>
              </a:rPr>
              <a:t>약 75 %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16780" y="1755648"/>
            <a:ext cx="19628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AI 판독 적용 완료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49424"/>
            <a:ext cx="5711799" cy="2852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2368296"/>
            <a:ext cx="54374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81C"/>
                </a:solidFill>
                <a:latin typeface="맑은 고딕"/>
              </a:rPr>
              <a:t>경쟁사별로 얼마나 조사했는가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2775204"/>
            <a:ext cx="68580" cy="68580"/>
          </a:xfrm>
          <a:prstGeom prst="rect">
            <a:avLst/>
          </a:prstGeom>
          <a:solidFill>
            <a:srgbClr val="E500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269748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자사 (LGES)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55648" y="270662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1만 5,990 · 공시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0" y="269748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1만 5,993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56048" y="276148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56048" y="2761488"/>
            <a:ext cx="658368" cy="77724"/>
          </a:xfrm>
          <a:prstGeom prst="rect">
            <a:avLst/>
          </a:prstGeom>
          <a:solidFill>
            <a:srgbClr val="E500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50992" y="269748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100%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0352" y="3072384"/>
            <a:ext cx="68580" cy="68580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299466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CATL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5648" y="300380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9,826 · 설비투자 공시 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360" y="299466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9,843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56048" y="305866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56048" y="3058668"/>
            <a:ext cx="408188" cy="77724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50992" y="299466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62%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0352" y="3369564"/>
            <a:ext cx="68580" cy="68580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329184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삼성SDI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55648" y="330098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6,717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23360" y="329184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6,717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56048" y="335584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956048" y="3355848"/>
            <a:ext cx="276514" cy="77724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50992" y="329184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42%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0352" y="3666744"/>
            <a:ext cx="68580" cy="68580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358902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파나소닉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55648" y="359816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2,991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23360" y="358902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2,991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56048" y="365302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956048" y="3653028"/>
            <a:ext cx="125089" cy="77724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50992" y="358902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19%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963924"/>
            <a:ext cx="68580" cy="68580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388620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SK온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55648" y="389534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2,261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23360" y="388620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2,261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56048" y="395020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56048" y="3950208"/>
            <a:ext cx="92171" cy="77724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50992" y="388620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14%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0352" y="4261104"/>
            <a:ext cx="68580" cy="68580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8368" y="418338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BYD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55648" y="419252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2,215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023360" y="418338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2,215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956048" y="424738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956048" y="4247388"/>
            <a:ext cx="92171" cy="77724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50992" y="418338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14%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0352" y="4558284"/>
            <a:ext cx="68580" cy="68580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448056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테슬라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55648" y="448970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특허 169 — 미국 공시 미연결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023360" y="448056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169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56048" y="454456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956048" y="4544568"/>
            <a:ext cx="13167" cy="77724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650992" y="448056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2%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30352" y="4855464"/>
            <a:ext cx="68580" cy="6858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477774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4181C"/>
                </a:solidFill>
                <a:latin typeface="맑은 고딕"/>
              </a:rPr>
              <a:t>합계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755648" y="4786884"/>
            <a:ext cx="2240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6개사 + 자사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23360" y="477774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14181C"/>
                </a:solidFill>
                <a:latin typeface="맑은 고딕"/>
              </a:rPr>
              <a:t>4만 1,685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956048" y="4841748"/>
            <a:ext cx="658368" cy="77724"/>
          </a:xfrm>
          <a:prstGeom prst="rect">
            <a:avLst/>
          </a:prstGeom>
          <a:solidFill>
            <a:srgbClr val="ED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956048" y="4841748"/>
            <a:ext cx="658368" cy="77724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50992" y="477774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414A52"/>
                </a:solidFill>
                <a:latin typeface="맑은 고딕"/>
              </a:rPr>
              <a:t>100%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42151" y="2249424"/>
            <a:ext cx="5565496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388455" y="2368296"/>
            <a:ext cx="5272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81C"/>
                </a:solidFill>
                <a:latin typeface="맑은 고딕"/>
              </a:rPr>
              <a:t>이 화면이 답하는 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88455" y="2633472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열위 10건 · 경합 4건 · 동등 2건 — 어디에 서 있는지 한눈에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88455" y="2871216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숫자를 누르면 근거 특허 목록과 원문 링크가 바로 뜬다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88455" y="3108960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TRL·격차·시급도의 산정 근거를 화면에서 확인할 수 있다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88455" y="3346704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특허청이 매긴 CPC 국제분류로 판독한다 — 단어 짐작이 아니다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242151" y="3712464"/>
            <a:ext cx="5565496" cy="1389888"/>
          </a:xfrm>
          <a:prstGeom prst="rect">
            <a:avLst/>
          </a:prstGeom>
          <a:solidFill>
            <a:srgbClr val="FFFFFF"/>
          </a:solidFill>
          <a:ln w="15875">
            <a:solidFill>
              <a:srgbClr val="E500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388455" y="3831336"/>
            <a:ext cx="5272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E5007D"/>
                </a:solidFill>
                <a:latin typeface="맑은 고딕"/>
              </a:rPr>
              <a:t>아직 남은 것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88455" y="4096512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기존 '미보유' 18건 모두에서 자사 특허가 검색됐다 — 확인이 필요하다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388455" y="4334256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경쟁사는 특허만 보인다. 라인 가동 여부를 몰라 실제로는 더 앞설 수 있다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88455" y="4572000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같은 발명이 나라별로 여러 건처럼 세어진다 — 특허가족 병합이 없다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388455" y="4809744"/>
            <a:ext cx="5272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14A52"/>
                </a:solidFill>
                <a:latin typeface="맑은 고딕"/>
              </a:rPr>
              <a:t>· 테슬라는 169건뿐이다. 미국 공시(SEC)가 국내망에서 차단돼 있다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84048" y="5230368"/>
            <a:ext cx="2780461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84048" y="5230368"/>
            <a:ext cx="38100" cy="1207008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48640" y="5330952"/>
            <a:ext cx="250614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79838C"/>
                </a:solidFill>
                <a:latin typeface="맑은 고딕"/>
              </a:rPr>
              <a:t>완료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5504688"/>
            <a:ext cx="25061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81C"/>
                </a:solidFill>
                <a:latin typeface="맑은 고딕"/>
              </a:rPr>
              <a:t>특허 4만 건 확보 · AI 판독 적용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48640" y="5779008"/>
            <a:ext cx="2506141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CPC 국제분류로 판독해
배정량이 228건 → 1만 1,051건.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48640" y="6199632"/>
            <a:ext cx="25061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C6B52"/>
                </a:solidFill>
                <a:latin typeface="맑은 고딕"/>
              </a:rPr>
              <a:t>비용 2,000원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265093" y="5230368"/>
            <a:ext cx="2780461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265093" y="5230368"/>
            <a:ext cx="38100" cy="1207008"/>
          </a:xfrm>
          <a:prstGeom prst="rect">
            <a:avLst/>
          </a:prstGeom>
          <a:solidFill>
            <a:srgbClr val="2C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429685" y="5330952"/>
            <a:ext cx="250614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79838C"/>
                </a:solidFill>
                <a:latin typeface="맑은 고딕"/>
              </a:rPr>
              <a:t>완료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29685" y="5504688"/>
            <a:ext cx="25061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81C"/>
                </a:solidFill>
                <a:latin typeface="맑은 고딕"/>
              </a:rPr>
              <a:t>판정 근거 공개 · 원문 링크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29685" y="5779008"/>
            <a:ext cx="2506141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모든 숫자에 산정 근거와
특허 원문 링크를 붙였다.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29685" y="6199632"/>
            <a:ext cx="25061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C6B52"/>
                </a:solidFill>
                <a:latin typeface="맑은 고딕"/>
              </a:rPr>
              <a:t>추가 비용 없음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46138" y="5230368"/>
            <a:ext cx="2780461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146138" y="5230368"/>
            <a:ext cx="38100" cy="1207008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310730" y="5330952"/>
            <a:ext cx="250614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79838C"/>
                </a:solidFill>
                <a:latin typeface="맑은 고딕"/>
              </a:rPr>
              <a:t>다음 1단계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310730" y="5504688"/>
            <a:ext cx="25061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81C"/>
                </a:solidFill>
                <a:latin typeface="맑은 고딕"/>
              </a:rPr>
              <a:t>자사 보유 현황 확정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10730" y="5779008"/>
            <a:ext cx="2506141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'미보유' 18건이 실제로 미보유인지
공정기술팀 확인이 필요하다.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10730" y="6199632"/>
            <a:ext cx="25061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B9821A"/>
                </a:solidFill>
                <a:latin typeface="맑은 고딕"/>
              </a:rPr>
              <a:t>약 3일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027183" y="5230368"/>
            <a:ext cx="2780461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9027183" y="5230368"/>
            <a:ext cx="38100" cy="1207008"/>
          </a:xfrm>
          <a:prstGeom prst="rect">
            <a:avLst/>
          </a:prstGeom>
          <a:solidFill>
            <a:srgbClr val="B9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191775" y="5330952"/>
            <a:ext cx="250614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79838C"/>
                </a:solidFill>
                <a:latin typeface="맑은 고딕"/>
              </a:rPr>
              <a:t>다음 2단계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91775" y="5504688"/>
            <a:ext cx="25061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81C"/>
                </a:solidFill>
                <a:latin typeface="맑은 고딕"/>
              </a:rPr>
              <a:t>특허가족 병합 · 창구 확대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191775" y="5779008"/>
            <a:ext cx="2506141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14A52"/>
                </a:solidFill>
                <a:latin typeface="맑은 고딕"/>
              </a:rPr>
              <a:t>중복을 없애고 SEC·HKEX·EPO를
연결하면 90%에 이른다.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191775" y="6199632"/>
            <a:ext cx="25061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B9821A"/>
                </a:solidFill>
                <a:latin typeface="맑은 고딕"/>
              </a:rPr>
              <a:t>약 7일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84048" y="6547104"/>
            <a:ext cx="114235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9838C"/>
                </a:solidFill>
                <a:latin typeface="맑은 고딕"/>
              </a:rPr>
              <a:t>모든 수치는 2026-09-13 실제 조사값입니다. 추정치는 '약'으로 표기했습니다.   |   LG에너지솔루션 기술전략 · 내부 검토용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